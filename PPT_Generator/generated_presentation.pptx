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Air Quality Index (AQI)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AQI? A simple numerical scale and color-coded system.</a:t>
            </a:r>
          </a:p>
          <a:p>
            <a:r>
              <a:t>Purpose: To communicate daily air quality levels and associated health risks to the public.</a:t>
            </a:r>
          </a:p>
          <a:p>
            <a:r>
              <a:t>Consolidates data from multiple pollutants into a single, easy-to-understand value.</a:t>
            </a:r>
          </a:p>
          <a:p>
            <a:r>
              <a:t>Helps individuals make informed decisions to protect their health.</a:t>
            </a:r>
          </a:p>
          <a:p>
            <a:r>
              <a:t>India's System: Based on 8 key pollutants for comprehensive assessment.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Calculation of AQI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Pollutants: PM2.5, PM10, Ozone (O3), Nitrogen Dioxide (NO2), Carbon Monoxide (CO), Sulfur Dioxide (SO2), Ammonia (NH3), Lead (Pb).</a:t>
            </a:r>
          </a:p>
          <a:p>
            <a:r>
              <a:t>Monitoring Stations: Automated continuous monitoring stations collect real-time data.</a:t>
            </a:r>
          </a:p>
          <a:p>
            <a:r>
              <a:t>Sub-indices: A separate sub-index is calculated for each pollutant based on its concentration and impact.</a:t>
            </a:r>
          </a:p>
          <a:p>
            <a:r>
              <a:t>Overall AQI: The highest sub-index value among all monitored pollutants becomes the city's AQI.</a:t>
            </a:r>
          </a:p>
          <a:p>
            <a:r>
              <a:t>Data Processing: Raw data is converted into an AQI value and health descriptor.</a:t>
            </a:r>
          </a:p>
          <a:p>
            <a:r>
              <a:t>(Visual suggestion: Infographic showing monitoring station components and data flow).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AQI Categories and Associated Health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(0-50, Green): Minimal impact; ideal air quality.</a:t>
            </a:r>
          </a:p>
          <a:p>
            <a:r>
              <a:t>Satisfactory (51-100, Light Green): Minor breathing discomfort to sensitive people possible.</a:t>
            </a:r>
          </a:p>
          <a:p>
            <a:r>
              <a:t>Moderately Polluted (101-200, Yellow): Breathing discomfort to people with lung/heart disease, children, and older adults.</a:t>
            </a:r>
          </a:p>
          <a:p>
            <a:r>
              <a:t>Poor (201-300, Orange): Breathing discomfort to most people on prolonged exposure.</a:t>
            </a:r>
          </a:p>
          <a:p>
            <a:r>
              <a:t>Very Poor (301-400, Red): Respiratory illness on prolonged exposure; significant impact on vulnerable groups.</a:t>
            </a:r>
          </a:p>
          <a:p>
            <a:r>
              <a:t>Severe (401-500+, Dark Red): Affects healthy people; serious health impacts on those with existing diseases.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of Air Pollution Driving AQI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Vehicular Emissions: Rapid increase in private vehicles, old vehicle fleet, traffic congestion, poor fuel quality.</a:t>
            </a:r>
          </a:p>
          <a:p>
            <a:r>
              <a:t>Industrial Pollution: Emissions from power plants, manufacturing units, brick kilns, and small-scale industries.</a:t>
            </a:r>
          </a:p>
          <a:p>
            <a:r>
              <a:t>Construction Activities: Dust from building sites, infrastructure projects, and demolition.</a:t>
            </a:r>
          </a:p>
          <a:p>
            <a:r>
              <a:t>Crop Residue Burning (Stubble Burning): Seasonal practice in agricultural regions, especially in North India.</a:t>
            </a:r>
          </a:p>
          <a:p>
            <a:r>
              <a:t>Biomass Burning: Domestic use of wood, cow dung, and agricultural waste for cooking and heating.</a:t>
            </a:r>
          </a:p>
          <a:p>
            <a:r>
              <a:t>Geographical &amp; Meteorological Factors: Temperature inversions, low wind speed, and landlocked regions trapping pollutants.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 and Patterns of AQI Across Indian 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Urbanization Impact: Rapid growth in cities leads to increased population density and pollution sources.</a:t>
            </a:r>
          </a:p>
          <a:p>
            <a:r>
              <a:t>Regional Disparities: North Indian cities often experience higher pollution levels, particularly during winter.</a:t>
            </a:r>
          </a:p>
          <a:p>
            <a:r>
              <a:t>Seasonal Variations: AQI typically worsens in winter due to calm winds and temperature inversions.</a:t>
            </a:r>
          </a:p>
          <a:p>
            <a:r>
              <a:t>Case Study - Delhi: Consistently ranks among the world's most polluted cities due to a combination of factors.</a:t>
            </a:r>
          </a:p>
          <a:p>
            <a:r>
              <a:t>Other Affected Cities: Kanpur, Ghaziabad, Lucknow, Patna, and others frequently record 'Very Poor' or 'Severe' AQI.</a:t>
            </a:r>
          </a:p>
          <a:p>
            <a:r>
              <a:t>(Visual suggestion: Map highlighting cities with consistently high AQI across India).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Measures for Improving Air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 Public Transportation: Expand and improve bus, metro, and rail networks; encourage electric vehicles (EVs).</a:t>
            </a:r>
          </a:p>
          <a:p>
            <a:r>
              <a:t>Strict Emission Norms: Enforce advanced emission standards for vehicles (e.g., BS-VI) and industries.</a:t>
            </a:r>
          </a:p>
          <a:p>
            <a:r>
              <a:t>Green Infrastructure: Large-scale afforestation, development of green belts, and urban forests.</a:t>
            </a:r>
          </a:p>
          <a:p>
            <a:r>
              <a:t>Sustainable Waste Management: Implement proper waste segregation, composting, and ban open burning.</a:t>
            </a:r>
          </a:p>
          <a:p>
            <a:r>
              <a:t>Renewable Energy Transition: Shift from coal-fired power plants to solar, wind, and hydropower.</a:t>
            </a:r>
          </a:p>
          <a:p>
            <a:r>
              <a:t>Public Awareness &amp; Participation: Educate citizens on pollution impacts and promote behavioral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Targeted Interventions for Heavily Polluted 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Response Plans: Implement Graded Response Action Plan (GRAP) based on AQI levels (e.g., in Delhi-NCR).</a:t>
            </a:r>
          </a:p>
          <a:p>
            <a:r>
              <a:t>Pollution Hotspot Identification: Pinpoint major sources and deploy targeted, localized interventions.</a:t>
            </a:r>
          </a:p>
          <a:p>
            <a:r>
              <a:t>Dust Control Measures: Regular road sweeping, water sprinkling, anti-smog guns, and strict construction site norms.</a:t>
            </a:r>
          </a:p>
          <a:p>
            <a:r>
              <a:t>Industrial Upgrades: Mandate cleaner technologies, emissions control systems, and relocation of polluting industries.</a:t>
            </a:r>
          </a:p>
          <a:p>
            <a:r>
              <a:t>Traffic Management: Congestion reduction, promotion of non-motorized transport, and vehicle restriction schemes.</a:t>
            </a:r>
          </a:p>
          <a:p>
            <a:r>
              <a:t>(Visual suggestion: Infographic detailing various stages and actions of GRAP).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Sustaining Good Air Quality in Less Polluted 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Proactive Planning: Integrate air quality considerations into all urban development and industrial planning.</a:t>
            </a:r>
          </a:p>
          <a:p>
            <a:r>
              <a:t>Green Development: Prioritize green buildings, sustainable transportation infrastructure, and open spaces.</a:t>
            </a:r>
          </a:p>
          <a:p>
            <a:r>
              <a:t>Continuous Monitoring: Maintain and expand AQI monitoring networks to detect early changes or emerging issues.</a:t>
            </a:r>
          </a:p>
          <a:p>
            <a:r>
              <a:t>Public Engagement: Encourage community participation in local environmental protection and green initiatives.</a:t>
            </a:r>
          </a:p>
          <a:p>
            <a:r>
              <a:t>Learning from Others: Analyze challenges faced by high AQI cities to implement preventative measures.</a:t>
            </a:r>
          </a:p>
          <a:p>
            <a:r>
              <a:t>(Visual suggestion: Images of green cities or sustainable urban planning projects).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Air Quality Trends and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AQI Trend Line Graphs: Showcase changes in a city's AQI over seasons, months, or years.</a:t>
            </a:r>
          </a:p>
          <a:p>
            <a:r>
              <a:t>Comparative Bar Charts: Illustrate AQI differences across major Indian cities (e.g., Delhi vs. Bengaluru vs. Chennai).</a:t>
            </a:r>
          </a:p>
          <a:p>
            <a:r>
              <a:t>Pollutant Contribution Pie Charts: Break down the percentage contribution of various pollutants to overall AQI.</a:t>
            </a:r>
          </a:p>
          <a:p>
            <a:r>
              <a:t>Color-Coded AQI Maps: Provide an intuitive, real-time overview of air quality across regions or states.</a:t>
            </a:r>
          </a:p>
          <a:p>
            <a:r>
              <a:t>Infographics on Health Impacts: Visually represent the effects of different AQI levels on human health and specific organs.</a:t>
            </a:r>
          </a:p>
          <a:p>
            <a:r>
              <a:t>(Actual charts and images would be embedded here in a live presentation from data sources).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Towards a Healthier Future: Concluding Thoughts on AQI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AQI serves as a critical indicator for understanding and addressing the complex issue of air pollution.</a:t>
            </a:r>
          </a:p>
          <a:p>
            <a:r>
              <a:t>India faces significant air quality challenges, particularly in rapidly urbanizing and industrialized areas.</a:t>
            </a:r>
          </a:p>
          <a:p>
            <a:r>
              <a:t>A multi-faceted approach involving robust policies, technological advancements, and public participation is crucial.</a:t>
            </a:r>
          </a:p>
          <a:p>
            <a:r>
              <a:t>Prioritizing sustainable development and green initiatives is key to long-term air quality improvement.</a:t>
            </a:r>
          </a:p>
          <a:p>
            <a:r>
              <a:t>Collective responsibility and sustained action are essential for ensuring a cleaner, healthier India for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